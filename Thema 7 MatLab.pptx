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ontserrat"/>
      <p:bold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  <p:embeddedFont>
      <p:font typeface="Space Grotesk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Montserrat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SpaceGrotesk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e073ea21_1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4e073ea21_1_4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e073ea21_1_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4e073ea21_1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000c1f83_1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5000c1f83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e073ea21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4e073ea2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4e073ea21_1_7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4e073ea21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4e073ea21_1_7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4e073ea21_1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4e073ea21_1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4e073ea21_1_9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e073ea21_1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4e073ea21_1_10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e073ea21_1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4e073ea21_1_1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4e073ea21_1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4e073ea21_1_1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4e073ea21_1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4e073ea21_1_1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e073ea21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4e073ea21_1_16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5000c1f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5000c1f8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4e073ea21_1_1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4e073ea21_1_17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015975" y="1904952"/>
            <a:ext cx="10159746" cy="4000600"/>
            <a:chOff x="762000" y="1428750"/>
            <a:chExt cx="7620000" cy="3000525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762000" y="1428750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Thema 07</a:t>
              </a:r>
              <a:endParaRPr b="1" sz="21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762000" y="1952625"/>
              <a:ext cx="7620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762000" y="2143125"/>
              <a:ext cx="762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3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Visualisierung langfristiger HRV-Änderungen</a:t>
              </a:r>
              <a:endParaRPr b="1" sz="5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762000" y="3952875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12.07.2026</a:t>
              </a:r>
              <a:endParaRPr b="0" sz="1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62000" y="523875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00 //</a:t>
            </a:r>
            <a:r>
              <a:rPr b="1"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Inhaltsverzeichnis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762000" y="1666875"/>
            <a:ext cx="9144000" cy="4305300"/>
            <a:chOff x="762000" y="1666875"/>
            <a:chExt cx="9144000" cy="4305300"/>
          </a:xfrm>
        </p:grpSpPr>
        <p:grpSp>
          <p:nvGrpSpPr>
            <p:cNvPr id="95" name="Google Shape;95;p14"/>
            <p:cNvGrpSpPr/>
            <p:nvPr/>
          </p:nvGrpSpPr>
          <p:grpSpPr>
            <a:xfrm>
              <a:off x="762000" y="1666875"/>
              <a:ext cx="9144000" cy="590550"/>
              <a:chOff x="762000" y="1666875"/>
              <a:chExt cx="9144000" cy="590550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762000" y="166687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 txBox="1"/>
              <p:nvPr/>
            </p:nvSpPr>
            <p:spPr>
              <a:xfrm>
                <a:off x="762000" y="166687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1647825" y="166687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 txBox="1"/>
              <p:nvPr/>
            </p:nvSpPr>
            <p:spPr>
              <a:xfrm>
                <a:off x="1647825" y="166687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Einleitung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00" name="Google Shape;100;p14"/>
              <p:cNvCxnSpPr/>
              <p:nvPr/>
            </p:nvCxnSpPr>
            <p:spPr>
              <a:xfrm>
                <a:off x="762000" y="225742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762000" y="2409825"/>
              <a:ext cx="9144000" cy="590550"/>
              <a:chOff x="762000" y="2409825"/>
              <a:chExt cx="9144000" cy="590550"/>
            </a:xfrm>
          </p:grpSpPr>
          <p:sp>
            <p:nvSpPr>
              <p:cNvPr id="102" name="Google Shape;102;p14"/>
              <p:cNvSpPr/>
              <p:nvPr/>
            </p:nvSpPr>
            <p:spPr>
              <a:xfrm>
                <a:off x="762000" y="240982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 txBox="1"/>
              <p:nvPr/>
            </p:nvSpPr>
            <p:spPr>
              <a:xfrm>
                <a:off x="762000" y="240982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1647825" y="240982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4"/>
              <p:cNvSpPr txBox="1"/>
              <p:nvPr/>
            </p:nvSpPr>
            <p:spPr>
              <a:xfrm>
                <a:off x="1647825" y="240982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Grundlagen (Begriffe)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06" name="Google Shape;106;p14"/>
              <p:cNvCxnSpPr/>
              <p:nvPr/>
            </p:nvCxnSpPr>
            <p:spPr>
              <a:xfrm>
                <a:off x="762000" y="300037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7" name="Google Shape;107;p14"/>
            <p:cNvGrpSpPr/>
            <p:nvPr/>
          </p:nvGrpSpPr>
          <p:grpSpPr>
            <a:xfrm>
              <a:off x="762000" y="3152775"/>
              <a:ext cx="9144000" cy="590550"/>
              <a:chOff x="762000" y="3152775"/>
              <a:chExt cx="9144000" cy="590550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762000" y="315277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 txBox="1"/>
              <p:nvPr/>
            </p:nvSpPr>
            <p:spPr>
              <a:xfrm>
                <a:off x="762000" y="315277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1647825" y="315277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4"/>
              <p:cNvSpPr txBox="1"/>
              <p:nvPr/>
            </p:nvSpPr>
            <p:spPr>
              <a:xfrm>
                <a:off x="1647825" y="315277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Projektübersicht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12" name="Google Shape;112;p14"/>
              <p:cNvCxnSpPr/>
              <p:nvPr/>
            </p:nvCxnSpPr>
            <p:spPr>
              <a:xfrm>
                <a:off x="762000" y="374332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14"/>
            <p:cNvGrpSpPr/>
            <p:nvPr/>
          </p:nvGrpSpPr>
          <p:grpSpPr>
            <a:xfrm>
              <a:off x="762000" y="3895725"/>
              <a:ext cx="9144000" cy="590550"/>
              <a:chOff x="762000" y="3895725"/>
              <a:chExt cx="9144000" cy="590550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762000" y="389572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4"/>
              <p:cNvSpPr txBox="1"/>
              <p:nvPr/>
            </p:nvSpPr>
            <p:spPr>
              <a:xfrm>
                <a:off x="762000" y="389572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04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1647825" y="389572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 txBox="1"/>
              <p:nvPr/>
            </p:nvSpPr>
            <p:spPr>
              <a:xfrm>
                <a:off x="1647825" y="389572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Ergebnisse / Schlussfolgerungen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18" name="Google Shape;118;p14"/>
              <p:cNvCxnSpPr/>
              <p:nvPr/>
            </p:nvCxnSpPr>
            <p:spPr>
              <a:xfrm>
                <a:off x="762000" y="448627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9" name="Google Shape;119;p14"/>
            <p:cNvGrpSpPr/>
            <p:nvPr/>
          </p:nvGrpSpPr>
          <p:grpSpPr>
            <a:xfrm>
              <a:off x="762000" y="4638675"/>
              <a:ext cx="9144000" cy="590550"/>
              <a:chOff x="762000" y="4638675"/>
              <a:chExt cx="9144000" cy="590550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762000" y="463867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4"/>
              <p:cNvSpPr txBox="1"/>
              <p:nvPr/>
            </p:nvSpPr>
            <p:spPr>
              <a:xfrm>
                <a:off x="762000" y="463867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05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1647825" y="463867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1647825" y="463867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Hilfsmittel und Quellen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24" name="Google Shape;124;p14"/>
              <p:cNvCxnSpPr/>
              <p:nvPr/>
            </p:nvCxnSpPr>
            <p:spPr>
              <a:xfrm>
                <a:off x="762000" y="522922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5" name="Google Shape;125;p14"/>
            <p:cNvGrpSpPr/>
            <p:nvPr/>
          </p:nvGrpSpPr>
          <p:grpSpPr>
            <a:xfrm>
              <a:off x="762000" y="5381625"/>
              <a:ext cx="9144000" cy="590550"/>
              <a:chOff x="762000" y="5381625"/>
              <a:chExt cx="9144000" cy="590550"/>
            </a:xfrm>
          </p:grpSpPr>
          <p:sp>
            <p:nvSpPr>
              <p:cNvPr id="126" name="Google Shape;126;p14"/>
              <p:cNvSpPr/>
              <p:nvPr/>
            </p:nvSpPr>
            <p:spPr>
              <a:xfrm>
                <a:off x="762000" y="5381625"/>
                <a:ext cx="762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4"/>
              <p:cNvSpPr txBox="1"/>
              <p:nvPr/>
            </p:nvSpPr>
            <p:spPr>
              <a:xfrm>
                <a:off x="762000" y="5381625"/>
                <a:ext cx="762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00F0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06</a:t>
                </a:r>
                <a:endParaRPr b="1" sz="24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1647825" y="5381625"/>
                <a:ext cx="76200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4"/>
              <p:cNvSpPr txBox="1"/>
              <p:nvPr/>
            </p:nvSpPr>
            <p:spPr>
              <a:xfrm>
                <a:off x="1647825" y="5381625"/>
                <a:ext cx="762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FFFFFF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Fragen</a:t>
                </a:r>
                <a:endParaRPr b="0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cxnSp>
            <p:nvCxnSpPr>
              <p:cNvPr id="130" name="Google Shape;130;p14"/>
              <p:cNvCxnSpPr/>
              <p:nvPr/>
            </p:nvCxnSpPr>
            <p:spPr>
              <a:xfrm>
                <a:off x="762000" y="5972175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2700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5"/>
          <p:cNvGrpSpPr/>
          <p:nvPr/>
        </p:nvGrpSpPr>
        <p:grpSpPr>
          <a:xfrm>
            <a:off x="762000" y="523875"/>
            <a:ext cx="5715000" cy="762000"/>
            <a:chOff x="762000" y="523875"/>
            <a:chExt cx="5715000" cy="762000"/>
          </a:xfrm>
        </p:grpSpPr>
        <p:sp>
          <p:nvSpPr>
            <p:cNvPr id="136" name="Google Shape;136;p15"/>
            <p:cNvSpPr txBox="1"/>
            <p:nvPr/>
          </p:nvSpPr>
          <p:spPr>
            <a:xfrm>
              <a:off x="762000" y="523875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Einleitung</a:t>
              </a:r>
              <a:endParaRPr b="1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762000" y="1238250"/>
              <a:ext cx="1143000" cy="381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762000" y="1714500"/>
            <a:ext cx="4714800" cy="4314900"/>
            <a:chOff x="762000" y="1714500"/>
            <a:chExt cx="4714800" cy="4314900"/>
          </a:xfrm>
        </p:grpSpPr>
        <p:sp>
          <p:nvSpPr>
            <p:cNvPr id="139" name="Google Shape;139;p15"/>
            <p:cNvSpPr/>
            <p:nvPr/>
          </p:nvSpPr>
          <p:spPr>
            <a:xfrm>
              <a:off x="762000" y="1714500"/>
              <a:ext cx="4714800" cy="4314900"/>
            </a:xfrm>
            <a:prstGeom prst="roundRect">
              <a:avLst>
                <a:gd fmla="val 3532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1047750" y="2000250"/>
              <a:ext cx="41433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PROJEKTZIEL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Visualisierung langfristiger, zeitlich variierender HRV-Änderungen über 24-stündige EKG-Aufzeichnungen.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Die Analyse zielt darauf ab, kontinuierliche physiologische Trends und Muster über einen ausgedehnten Zeitraum hinweg detailliert darzustellen.</a:t>
              </a:r>
              <a:endParaRPr b="0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5"/>
          <p:cNvGrpSpPr/>
          <p:nvPr/>
        </p:nvGrpSpPr>
        <p:grpSpPr>
          <a:xfrm>
            <a:off x="5762625" y="1714500"/>
            <a:ext cx="5191200" cy="4314900"/>
            <a:chOff x="5762625" y="1714500"/>
            <a:chExt cx="5191200" cy="4314900"/>
          </a:xfrm>
        </p:grpSpPr>
        <p:sp>
          <p:nvSpPr>
            <p:cNvPr id="142" name="Google Shape;142;p15"/>
            <p:cNvSpPr/>
            <p:nvPr/>
          </p:nvSpPr>
          <p:spPr>
            <a:xfrm>
              <a:off x="5762625" y="1714500"/>
              <a:ext cx="5191200" cy="4314900"/>
            </a:xfrm>
            <a:prstGeom prst="roundRect">
              <a:avLst>
                <a:gd fmla="val 3532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6048375" y="2000250"/>
              <a:ext cx="46197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ANALYSEMETHODEN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Zugehörige Verfahren zur Signalverarbeitung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4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FFT-basierte Spektralanalyse</a:t>
              </a:r>
              <a:endParaRPr b="1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4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HRV-Frequenzbandanalyse</a:t>
              </a:r>
              <a:endParaRPr b="1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1400"/>
                </a:spcAft>
                <a:buNone/>
              </a:pPr>
              <a:r>
                <a:rPr b="1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4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3D Wasserfall Diagramm</a:t>
              </a:r>
              <a:endParaRPr b="1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6"/>
          <p:cNvGrpSpPr/>
          <p:nvPr/>
        </p:nvGrpSpPr>
        <p:grpSpPr>
          <a:xfrm>
            <a:off x="762000" y="523875"/>
            <a:ext cx="5715000" cy="762000"/>
            <a:chOff x="762000" y="523875"/>
            <a:chExt cx="5715000" cy="762000"/>
          </a:xfrm>
        </p:grpSpPr>
        <p:sp>
          <p:nvSpPr>
            <p:cNvPr id="149" name="Google Shape;149;p16"/>
            <p:cNvSpPr txBox="1"/>
            <p:nvPr/>
          </p:nvSpPr>
          <p:spPr>
            <a:xfrm>
              <a:off x="762000" y="523875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Grundlagen</a:t>
              </a:r>
              <a:endParaRPr b="1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762000" y="1238250"/>
              <a:ext cx="1143000" cy="381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6"/>
          <p:cNvSpPr txBox="1"/>
          <p:nvPr/>
        </p:nvSpPr>
        <p:spPr>
          <a:xfrm>
            <a:off x="762000" y="1619250"/>
            <a:ext cx="5715000" cy="46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HRV</a:t>
            </a:r>
            <a:endParaRPr b="1" sz="16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Beschreibt die Variation der Zeitabstände zwischen aufeinanderfolgenden Herzschlägen.</a:t>
            </a:r>
            <a:endParaRPr b="0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EKG</a:t>
            </a:r>
            <a:endParaRPr b="1" sz="16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Elektrokardiogramm — Messmethode, um die elektrische Aktivität des Herzens präzise aufzuzeichnen.</a:t>
            </a:r>
            <a:endParaRPr b="0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R-Zacke &amp; QRS-Komplex</a:t>
            </a:r>
            <a:endParaRPr b="1" sz="16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Charakteristische Ausschläge im EKG-Signal, wobei die R-Zacke die höchste Spitze darstellt. QRS-Komplex besteht aus den Q</a:t>
            </a:r>
            <a:r>
              <a:rPr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-, R- und S-Zacken</a:t>
            </a:r>
            <a:endParaRPr b="0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RR/NN-Intervall</a:t>
            </a:r>
            <a:endParaRPr b="1" sz="16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Der exakte zeitliche Abstand zwischen zwei aufeinanderfolgenden R-Zacken im EKG.</a:t>
            </a:r>
            <a:endParaRPr b="0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35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IQR </a:t>
            </a:r>
            <a:r>
              <a:rPr b="0" lang="en-US" sz="1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(Interquartilsabstand)</a:t>
            </a:r>
            <a:endParaRPr b="1" sz="16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Ein statistisches Maß, das beschreibt, wie stark die gemessenen Daten um den Mittelwert herum streuen.</a:t>
            </a:r>
            <a:endParaRPr b="0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" name="Google Shape;152;p16"/>
          <p:cNvGrpSpPr/>
          <p:nvPr/>
        </p:nvGrpSpPr>
        <p:grpSpPr>
          <a:xfrm>
            <a:off x="7048500" y="1428750"/>
            <a:ext cx="4381500" cy="4000500"/>
            <a:chOff x="7048500" y="1428750"/>
            <a:chExt cx="4381500" cy="4000500"/>
          </a:xfrm>
        </p:grpSpPr>
        <p:sp>
          <p:nvSpPr>
            <p:cNvPr id="153" name="Google Shape;153;p16"/>
            <p:cNvSpPr/>
            <p:nvPr/>
          </p:nvSpPr>
          <p:spPr>
            <a:xfrm>
              <a:off x="7048500" y="1428750"/>
              <a:ext cx="4381500" cy="4000500"/>
            </a:xfrm>
            <a:prstGeom prst="roundRect">
              <a:avLst>
                <a:gd fmla="val 3809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239000" y="1619250"/>
              <a:ext cx="4000500" cy="2857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" name="Google Shape;155;p16"/>
            <p:cNvPicPr preferRelativeResize="0"/>
            <p:nvPr/>
          </p:nvPicPr>
          <p:blipFill rotWithShape="1">
            <a:blip r:embed="rId4">
              <a:alphaModFix/>
            </a:blip>
            <a:srcRect b="0" l="308" r="298" t="0"/>
            <a:stretch/>
          </p:blipFill>
          <p:spPr>
            <a:xfrm>
              <a:off x="7239000" y="1619250"/>
              <a:ext cx="4000500" cy="2857500"/>
            </a:xfrm>
            <a:prstGeom prst="roundRect">
              <a:avLst>
                <a:gd fmla="val 2666" name="adj"/>
              </a:avLst>
            </a:prstGeom>
            <a:noFill/>
            <a:ln>
              <a:noFill/>
            </a:ln>
          </p:spPr>
        </p:pic>
        <p:sp>
          <p:nvSpPr>
            <p:cNvPr id="156" name="Google Shape;156;p16"/>
            <p:cNvSpPr txBox="1"/>
            <p:nvPr/>
          </p:nvSpPr>
          <p:spPr>
            <a:xfrm>
              <a:off x="7239000" y="4619625"/>
              <a:ext cx="4000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00F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EKG-SIGNAL &amp; INTERVALLE</a:t>
              </a:r>
              <a:endParaRPr b="0" sz="1050">
                <a:solidFill>
                  <a:srgbClr val="00F0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Schematische Darstellung der R-Zacken und RR-Abstände</a:t>
              </a:r>
              <a:endParaRPr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7"/>
          <p:cNvGrpSpPr/>
          <p:nvPr/>
        </p:nvGrpSpPr>
        <p:grpSpPr>
          <a:xfrm>
            <a:off x="761981" y="520687"/>
            <a:ext cx="7619809" cy="761981"/>
            <a:chOff x="571500" y="390525"/>
            <a:chExt cx="5715000" cy="571500"/>
          </a:xfrm>
        </p:grpSpPr>
        <p:sp>
          <p:nvSpPr>
            <p:cNvPr id="162" name="Google Shape;162;p17"/>
            <p:cNvSpPr txBox="1"/>
            <p:nvPr/>
          </p:nvSpPr>
          <p:spPr>
            <a:xfrm>
              <a:off x="571500" y="390525"/>
              <a:ext cx="5715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Projektübersicht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761968" y="1714447"/>
            <a:ext cx="4718294" cy="4317892"/>
            <a:chOff x="571500" y="1285875"/>
            <a:chExt cx="3714900" cy="3238500"/>
          </a:xfrm>
        </p:grpSpPr>
        <p:sp>
          <p:nvSpPr>
            <p:cNvPr id="165" name="Google Shape;165;p17"/>
            <p:cNvSpPr/>
            <p:nvPr/>
          </p:nvSpPr>
          <p:spPr>
            <a:xfrm>
              <a:off x="571500" y="1285875"/>
              <a:ext cx="37149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762000" y="1476375"/>
              <a:ext cx="3333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ORDNERSTRUKTUR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Das Projekt ist in drei Hauptordner unterteilt</a:t>
              </a:r>
              <a:endParaRPr b="0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F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📁</a:t>
              </a:r>
              <a:r>
                <a:rPr b="0" lang="en-US" sz="17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assets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F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📁</a:t>
              </a:r>
              <a:r>
                <a:rPr b="0" lang="en-US" sz="17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data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en-US" sz="2100">
                  <a:solidFill>
                    <a:srgbClr val="00F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📁</a:t>
              </a:r>
              <a:r>
                <a:rPr b="0" lang="en-US" sz="17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src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5740094" y="1714457"/>
            <a:ext cx="5207070" cy="4317892"/>
            <a:chOff x="4305178" y="1285875"/>
            <a:chExt cx="3905400" cy="3238500"/>
          </a:xfrm>
        </p:grpSpPr>
        <p:sp>
          <p:nvSpPr>
            <p:cNvPr id="168" name="Google Shape;168;p17"/>
            <p:cNvSpPr/>
            <p:nvPr/>
          </p:nvSpPr>
          <p:spPr>
            <a:xfrm>
              <a:off x="4305178" y="128587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4495678" y="1476375"/>
              <a:ext cx="35244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CODE MODULARITÄT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Strukturierte und modularisierte Code-Architektur</a:t>
              </a:r>
              <a:endParaRPr b="0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Config</a:t>
              </a:r>
              <a:endParaRPr b="0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Performance </a:t>
              </a:r>
              <a:r>
                <a:rPr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Check Start</a:t>
              </a:r>
              <a:endParaRPr b="0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Pipeline </a:t>
              </a: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(Vorbereitung, Bearbeitung, Plotting)</a:t>
              </a:r>
              <a:endParaRPr b="0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▪ </a:t>
              </a:r>
              <a:r>
                <a:rPr b="0"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Performance </a:t>
              </a:r>
              <a:r>
                <a:rPr lang="en-US" sz="1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Check Stop</a:t>
              </a:r>
              <a:endParaRPr b="0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Jede Funktion in eigene Datei ausgelagert und wird zentral in main ausgeführt</a:t>
              </a:r>
              <a:endParaRPr b="0" i="1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>
            <a:off x="761973" y="520675"/>
            <a:ext cx="10146146" cy="761981"/>
            <a:chOff x="571494" y="390516"/>
            <a:chExt cx="7609800" cy="571500"/>
          </a:xfrm>
        </p:grpSpPr>
        <p:sp>
          <p:nvSpPr>
            <p:cNvPr id="175" name="Google Shape;175;p18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Signal-Vorbereitung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6222844" y="1523962"/>
            <a:ext cx="5207070" cy="4762381"/>
            <a:chOff x="4667250" y="1143000"/>
            <a:chExt cx="3905400" cy="3571875"/>
          </a:xfrm>
        </p:grpSpPr>
        <p:sp>
          <p:nvSpPr>
            <p:cNvPr id="178" name="Google Shape;178;p18"/>
            <p:cNvSpPr/>
            <p:nvPr/>
          </p:nvSpPr>
          <p:spPr>
            <a:xfrm>
              <a:off x="4667250" y="1143000"/>
              <a:ext cx="3905400" cy="1714500"/>
            </a:xfrm>
            <a:prstGeom prst="roundRect">
              <a:avLst>
                <a:gd fmla="val 6666" name="adj"/>
              </a:avLst>
            </a:prstGeom>
            <a:solidFill>
              <a:srgbClr val="161B22"/>
            </a:solidFill>
            <a:ln cap="flat" cmpd="sng" w="127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4667250" y="3000375"/>
              <a:ext cx="3905400" cy="1714500"/>
            </a:xfrm>
            <a:prstGeom prst="roundRect">
              <a:avLst>
                <a:gd fmla="val 6666" name="adj"/>
              </a:avLst>
            </a:prstGeom>
            <a:solidFill>
              <a:srgbClr val="161B22"/>
            </a:solidFill>
            <a:ln cap="flat" cmpd="sng" w="127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6858000" y="1238250"/>
              <a:ext cx="1571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Gesamtübersicht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Rohsignal mit Rauschen und Drift im Vergleich zum gefilterten Signal.</a:t>
              </a:r>
              <a:endParaRPr sz="13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7239000" y="3190875"/>
              <a:ext cx="11907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Detailansicht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Vergrößerter Ausschnitt zeigt die präzise Wirkung der Filter.</a:t>
              </a:r>
              <a:endParaRPr sz="13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5095875" y="1714500"/>
              <a:ext cx="304800" cy="104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3" name="Google Shape;183;p18"/>
          <p:cNvPicPr preferRelativeResize="0"/>
          <p:nvPr/>
        </p:nvPicPr>
        <p:blipFill rotWithShape="1">
          <a:blip r:embed="rId4">
            <a:alphaModFix/>
          </a:blip>
          <a:srcRect b="20" l="0" r="0" t="30"/>
          <a:stretch/>
        </p:blipFill>
        <p:spPr>
          <a:xfrm>
            <a:off x="6413500" y="1651000"/>
            <a:ext cx="2540100" cy="19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 rotWithShape="1">
          <a:blip r:embed="rId5">
            <a:alphaModFix/>
          </a:blip>
          <a:srcRect b="50" l="0" r="0" t="60"/>
          <a:stretch/>
        </p:blipFill>
        <p:spPr>
          <a:xfrm>
            <a:off x="6413500" y="4254500"/>
            <a:ext cx="3048000" cy="17781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5" name="Google Shape;185;p18"/>
          <p:cNvGrpSpPr/>
          <p:nvPr/>
        </p:nvGrpSpPr>
        <p:grpSpPr>
          <a:xfrm>
            <a:off x="761981" y="1523962"/>
            <a:ext cx="5079873" cy="4762281"/>
            <a:chOff x="571500" y="1143000"/>
            <a:chExt cx="3810000" cy="3571800"/>
          </a:xfrm>
        </p:grpSpPr>
        <p:sp>
          <p:nvSpPr>
            <p:cNvPr id="186" name="Google Shape;186;p18"/>
            <p:cNvSpPr txBox="1"/>
            <p:nvPr/>
          </p:nvSpPr>
          <p:spPr>
            <a:xfrm>
              <a:off x="571500" y="11430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Rohsignal vs. Gefiltert</a:t>
              </a:r>
              <a:endParaRPr b="1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571500" y="1571625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Das Rohsignal unterliegt einer erheblichen Basislinienverschiebung, primär verursacht durch thorakale Atembewegungen.</a:t>
              </a:r>
              <a:endParaRPr sz="14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571500" y="2238375"/>
              <a:ext cx="3810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F0FF"/>
                  </a:solidFill>
                  <a:latin typeface="DM Sans"/>
                  <a:ea typeface="DM Sans"/>
                  <a:cs typeface="DM Sans"/>
                  <a:sym typeface="DM Sans"/>
                </a:rPr>
                <a:t>0.5 Hz Hochpassfilter:</a:t>
              </a:r>
              <a:br>
                <a:rPr lang="en-US" sz="13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13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Kompensiert erfolgreich die drastische Basisliniendrift.</a:t>
              </a:r>
              <a:endParaRPr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F0FF"/>
                  </a:solidFill>
                  <a:latin typeface="DM Sans"/>
                  <a:ea typeface="DM Sans"/>
                  <a:cs typeface="DM Sans"/>
                  <a:sym typeface="DM Sans"/>
                </a:rPr>
                <a:t>50-Hz-Bandsperrfilter:</a:t>
              </a:r>
              <a:br>
                <a:rPr lang="en-US" sz="13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13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Eliminiert das typische Netzbrummen.</a:t>
              </a:r>
              <a:endParaRPr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F0FF"/>
                  </a:solidFill>
                  <a:latin typeface="DM Sans"/>
                  <a:ea typeface="DM Sans"/>
                  <a:cs typeface="DM Sans"/>
                  <a:sym typeface="DM Sans"/>
                </a:rPr>
                <a:t>40 Hz Tiefpassfilter:</a:t>
              </a:r>
              <a:br>
                <a:rPr lang="en-US" sz="13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-US" sz="130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Unterdrückt hochfrequente Muskelartefakte effektiv.</a:t>
              </a:r>
              <a:endParaRPr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571500" y="4000500"/>
              <a:ext cx="3810000" cy="714300"/>
            </a:xfrm>
            <a:prstGeom prst="roundRect">
              <a:avLst>
                <a:gd fmla="val 10666" name="adj"/>
              </a:avLst>
            </a:prstGeom>
            <a:solidFill>
              <a:srgbClr val="161B22"/>
            </a:solidFill>
            <a:ln cap="flat" cmpd="sng" w="127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714375" y="4048125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F0FF"/>
                  </a:solidFill>
                  <a:latin typeface="DM Sans"/>
                  <a:ea typeface="DM Sans"/>
                  <a:cs typeface="DM Sans"/>
                  <a:sym typeface="DM Sans"/>
                </a:rPr>
                <a:t>Ergebnis:</a:t>
              </a:r>
              <a:r>
                <a:rPr lang="en-US" sz="1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Die Nulllinie des EKG-Signals ist im unteren Graphen stabilisiert.</a:t>
              </a:r>
              <a:endParaRPr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1" name="Google Shape;191;p18"/>
          <p:cNvSpPr/>
          <p:nvPr/>
        </p:nvSpPr>
        <p:spPr>
          <a:xfrm>
            <a:off x="6790925" y="2285997"/>
            <a:ext cx="416400" cy="13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8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00" lIns="82500" spcFirstLastPara="1" rIns="82500" wrap="square" tIns="82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3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762000" y="1651000"/>
            <a:ext cx="50799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Adaptiver Algorithmus</a:t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Eine korrekte HRV-Analyse ist völlig wertlos, wenn R-Wellen falsch detektiert werden. Die Markierungen beweisen die Präzision.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Schwellenwert-Logik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Wir nutzen 2.5 * Standardabweichung als dynamischen Schwellenwert. (Um 98.8% der daten</a:t>
            </a: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punkte abzudecken</a:t>
            </a: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Artefakt-Resistenz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T-Wellen und P-Wellen werden konsequent ignoriert.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Stabilität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Selbst bei massiven Amplitudenschwankungen greift der Fallback-Mechanismus.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6222844" y="1714457"/>
            <a:ext cx="5207070" cy="4317892"/>
            <a:chOff x="4667250" y="1285875"/>
            <a:chExt cx="3905400" cy="3238500"/>
          </a:xfrm>
        </p:grpSpPr>
        <p:sp>
          <p:nvSpPr>
            <p:cNvPr id="198" name="Google Shape;198;p19"/>
            <p:cNvSpPr/>
            <p:nvPr/>
          </p:nvSpPr>
          <p:spPr>
            <a:xfrm>
              <a:off x="4667250" y="128587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9" name="Google Shape;19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7750" y="1476375"/>
              <a:ext cx="3524400" cy="1762200"/>
            </a:xfrm>
            <a:prstGeom prst="roundRect">
              <a:avLst>
                <a:gd fmla="val 3243" name="adj"/>
              </a:avLst>
            </a:prstGeom>
            <a:noFill/>
            <a:ln>
              <a:noFill/>
            </a:ln>
          </p:spPr>
        </p:pic>
        <p:sp>
          <p:nvSpPr>
            <p:cNvPr id="200" name="Google Shape;200;p19"/>
            <p:cNvSpPr txBox="1"/>
            <p:nvPr/>
          </p:nvSpPr>
          <p:spPr>
            <a:xfrm>
              <a:off x="4857750" y="3381375"/>
              <a:ext cx="352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F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Automatische R-Zacken-Erkennung</a:t>
              </a:r>
              <a:endParaRPr b="0" sz="1100">
                <a:solidFill>
                  <a:srgbClr val="00F0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Erkannte R-Zacken (rote Sterne) im gefilterten EKG-Signal über einen 10-Sekunden-Ausschnitt.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761973" y="520675"/>
            <a:ext cx="10146146" cy="761981"/>
            <a:chOff x="571494" y="390516"/>
            <a:chExt cx="7609800" cy="571500"/>
          </a:xfrm>
        </p:grpSpPr>
        <p:sp>
          <p:nvSpPr>
            <p:cNvPr id="202" name="Google Shape;202;p19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R-Zacken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0"/>
          <p:cNvGrpSpPr/>
          <p:nvPr/>
        </p:nvGrpSpPr>
        <p:grpSpPr>
          <a:xfrm>
            <a:off x="761973" y="520675"/>
            <a:ext cx="10146146" cy="761981"/>
            <a:chOff x="571494" y="390516"/>
            <a:chExt cx="7609800" cy="571500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RR-Intervallen (24h)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762000" y="1651000"/>
            <a:ext cx="50799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Langfristige Regulation</a:t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Das Streudiagramm visualisiert die RR-Intervalle über einen kompletten 24-Stunden-Zyklus.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01 // Plausibilität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Die Datenwolke bleibt fast ausnahmslos innerhalb der definierten physiologischen Grenzen (300 ms - 1500 ms).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02 // Wachphasen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Sichtbar als verdichtetes, komprimiertes Band am unteren Rand (hohe Herzfrequenz bei Stress/Aktivität).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03 // Schlafphasen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Massive Ausdehnung nach oben (über 1.0s). Die extreme Varianz belegt die dominante Vagus-Aktivität.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6222844" y="1714457"/>
            <a:ext cx="5207070" cy="4317892"/>
            <a:chOff x="4667250" y="1285875"/>
            <a:chExt cx="3905400" cy="3238500"/>
          </a:xfrm>
        </p:grpSpPr>
        <p:sp>
          <p:nvSpPr>
            <p:cNvPr id="213" name="Google Shape;213;p20"/>
            <p:cNvSpPr/>
            <p:nvPr/>
          </p:nvSpPr>
          <p:spPr>
            <a:xfrm>
              <a:off x="4667250" y="128587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4857750" y="3381375"/>
              <a:ext cx="352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F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Tachogramm</a:t>
              </a:r>
              <a:endParaRPr b="0" sz="1100">
                <a:solidFill>
                  <a:srgbClr val="00F0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ctr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Die dynamische Veränderung des RR intervalls, zeigt die Aktivitätsphasen.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15" name="Google Shape;2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251" y="2106598"/>
            <a:ext cx="5202399" cy="20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1"/>
          <p:cNvGrpSpPr/>
          <p:nvPr/>
        </p:nvGrpSpPr>
        <p:grpSpPr>
          <a:xfrm>
            <a:off x="761973" y="520676"/>
            <a:ext cx="10146146" cy="761981"/>
            <a:chOff x="571494" y="390516"/>
            <a:chExt cx="7609800" cy="571500"/>
          </a:xfrm>
        </p:grpSpPr>
        <p:sp>
          <p:nvSpPr>
            <p:cNvPr id="221" name="Google Shape;221;p21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Spektral-Analyse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21"/>
          <p:cNvSpPr txBox="1"/>
          <p:nvPr/>
        </p:nvSpPr>
        <p:spPr>
          <a:xfrm>
            <a:off x="762000" y="1651000"/>
            <a:ext cx="5079900" cy="343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Das 3D-Wasserfall-Spektrum</a:t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Nach der kubischen Spline-Interpolation auf 4 Hz quantifizieren wir das sympathovagale Gleichgewicht mittels Kurzzeit-FFT.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01 // Dämpfung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Die Z-Achse ist per Quadratwurzel skaliert (1/f-Gesetz), um das schwächere HF-Band sichtbar zu machen.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02 // VLF-Dominanz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Das Very-Low-Frequency Band dominiert die Gesamtenergie durchgehend.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03 // Vagus-Nachweis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Erholungsphasen entstehen charakteristische "Hügelketten" im HF-Band (0.15 - 0.40 Hz).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6222844" y="1714457"/>
            <a:ext cx="5207070" cy="4317892"/>
            <a:chOff x="4667250" y="1285875"/>
            <a:chExt cx="3905400" cy="3238500"/>
          </a:xfrm>
        </p:grpSpPr>
        <p:sp>
          <p:nvSpPr>
            <p:cNvPr id="225" name="Google Shape;225;p21"/>
            <p:cNvSpPr/>
            <p:nvPr/>
          </p:nvSpPr>
          <p:spPr>
            <a:xfrm>
              <a:off x="4667250" y="128587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21"/>
            <p:cNvPicPr preferRelativeResize="0"/>
            <p:nvPr/>
          </p:nvPicPr>
          <p:blipFill rotWithShape="1">
            <a:blip r:embed="rId4">
              <a:alphaModFix/>
            </a:blip>
            <a:srcRect b="6085" l="0" r="0" t="3088"/>
            <a:stretch/>
          </p:blipFill>
          <p:spPr>
            <a:xfrm>
              <a:off x="4857759" y="1412717"/>
              <a:ext cx="3524400" cy="19209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  <p:sp>
          <p:nvSpPr>
            <p:cNvPr id="227" name="Google Shape;227;p21"/>
            <p:cNvSpPr txBox="1"/>
            <p:nvPr/>
          </p:nvSpPr>
          <p:spPr>
            <a:xfrm>
              <a:off x="4857750" y="3429000"/>
              <a:ext cx="352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Zeitliche Entwicklung des HRV-Spektrums</a:t>
              </a:r>
              <a:endParaRPr b="1" sz="12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3D-Wasserfall-Spektrogramm zur detaillierten Frequenzanalyse der Herzratenvariabilität.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761981" y="1231869"/>
            <a:ext cx="11433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2"/>
          <p:cNvGrpSpPr/>
          <p:nvPr/>
        </p:nvGrpSpPr>
        <p:grpSpPr>
          <a:xfrm>
            <a:off x="6923087" y="1138491"/>
            <a:ext cx="4789973" cy="5094808"/>
            <a:chOff x="4667250" y="1285875"/>
            <a:chExt cx="3905400" cy="3238500"/>
          </a:xfrm>
        </p:grpSpPr>
        <p:sp>
          <p:nvSpPr>
            <p:cNvPr id="234" name="Google Shape;234;p22"/>
            <p:cNvSpPr/>
            <p:nvPr/>
          </p:nvSpPr>
          <p:spPr>
            <a:xfrm>
              <a:off x="4667250" y="1285875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7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4792173" y="3849658"/>
              <a:ext cx="3590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F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Tachogramm</a:t>
              </a:r>
              <a:endParaRPr b="0" sz="1000">
                <a:solidFill>
                  <a:srgbClr val="00F0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Die dynamische Veränderung des RR intervalls, zeigt die Aktivitätsphasen.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6" name="Google Shape;236;p22"/>
          <p:cNvSpPr txBox="1"/>
          <p:nvPr/>
        </p:nvSpPr>
        <p:spPr>
          <a:xfrm>
            <a:off x="762000" y="1651000"/>
            <a:ext cx="5079900" cy="444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Das LF/HF-Verhältnis</a:t>
            </a:r>
            <a:endParaRPr b="1" i="0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Die Trendkurven verdeutlichen das dynamische Zusammenspiel von Sympathikus ("Gaspedal") und Parasympathikus ("Bremse").</a:t>
            </a:r>
            <a:endParaRPr b="0" i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01 // Regulation</a:t>
            </a:r>
            <a:endParaRPr b="1" i="0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Starke und konstante Schwankungen beweisen, dass das Nervensystem fortlaufend gegenregulatorische Prozesse ausführt.</a:t>
            </a:r>
            <a:endParaRPr b="0" i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02 // Belastung</a:t>
            </a:r>
            <a:endParaRPr b="1" i="0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Extreme Ausreißer nach oben markieren Phasen akuter körperlicher oder mentaler Belastung.</a:t>
            </a:r>
            <a:endParaRPr b="0" i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03 // Pathologie</a:t>
            </a:r>
            <a:endParaRPr b="1" i="0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Eine starre Linie würde auf einen pathologischen "Lock-in"-Zustand hindeuten.</a:t>
            </a:r>
            <a:endParaRPr b="0" i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750" y="1282700"/>
            <a:ext cx="3721075" cy="3721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22"/>
          <p:cNvGrpSpPr/>
          <p:nvPr/>
        </p:nvGrpSpPr>
        <p:grpSpPr>
          <a:xfrm>
            <a:off x="761973" y="520676"/>
            <a:ext cx="10146146" cy="761981"/>
            <a:chOff x="571494" y="390516"/>
            <a:chExt cx="7609800" cy="571500"/>
          </a:xfrm>
        </p:grpSpPr>
        <p:sp>
          <p:nvSpPr>
            <p:cNvPr id="239" name="Google Shape;239;p22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Regulation &amp; Trends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761981" y="1231869"/>
            <a:ext cx="11433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23"/>
          <p:cNvGrpSpPr/>
          <p:nvPr/>
        </p:nvGrpSpPr>
        <p:grpSpPr>
          <a:xfrm>
            <a:off x="761973" y="520676"/>
            <a:ext cx="10146146" cy="761981"/>
            <a:chOff x="571494" y="390516"/>
            <a:chExt cx="7609800" cy="571500"/>
          </a:xfrm>
        </p:grpSpPr>
        <p:sp>
          <p:nvSpPr>
            <p:cNvPr id="247" name="Google Shape;247;p23"/>
            <p:cNvSpPr txBox="1"/>
            <p:nvPr/>
          </p:nvSpPr>
          <p:spPr>
            <a:xfrm>
              <a:off x="571494" y="390516"/>
              <a:ext cx="7609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Segmentvergleich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3"/>
          <p:cNvSpPr txBox="1"/>
          <p:nvPr/>
        </p:nvSpPr>
        <p:spPr>
          <a:xfrm>
            <a:off x="762000" y="1650997"/>
            <a:ext cx="50799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Statistischer Nachweis</a:t>
            </a:r>
            <a:endParaRPr b="1" sz="20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Die Boxplot-Analyse unterteilt den Langzeit-Datensatz zur objektiven Bewertung der autonomen Unterschiede.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01 // Medianverschiebung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Die markante Verschiebung der roten Medianlinie belegt den Wechsel der sympathischen Grundaktivität.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02 // Interquartilsabstand (IQR)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Die Höhe des blauen Kastens (Streuung) ist ein Maß für die Regulationsdynamik des Probanden.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03 // Langzeitmessung</a:t>
            </a:r>
            <a:endParaRPr b="1" sz="1500">
              <a:solidFill>
                <a:srgbClr val="00F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Dieser Vergleich rechtfertigt mathematisch die Notwendigkeit von 24h-Langzeitmessungen.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0" name="Google Shape;250;p23"/>
          <p:cNvGrpSpPr/>
          <p:nvPr/>
        </p:nvGrpSpPr>
        <p:grpSpPr>
          <a:xfrm>
            <a:off x="6923084" y="1138495"/>
            <a:ext cx="4790100" cy="5094900"/>
            <a:chOff x="6923084" y="1138495"/>
            <a:chExt cx="4790100" cy="5094900"/>
          </a:xfrm>
        </p:grpSpPr>
        <p:sp>
          <p:nvSpPr>
            <p:cNvPr id="251" name="Google Shape;251;p23"/>
            <p:cNvSpPr/>
            <p:nvPr/>
          </p:nvSpPr>
          <p:spPr>
            <a:xfrm>
              <a:off x="6923084" y="1138495"/>
              <a:ext cx="4790100" cy="5094900"/>
            </a:xfrm>
            <a:prstGeom prst="roundRect">
              <a:avLst>
                <a:gd fmla="val 3529" name="adj"/>
              </a:avLst>
            </a:prstGeom>
            <a:solidFill>
              <a:srgbClr val="161B22"/>
            </a:solidFill>
            <a:ln cap="flat" cmpd="sng" w="17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2" name="Google Shape;25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03519" y="1428750"/>
              <a:ext cx="4229100" cy="2817900"/>
            </a:xfrm>
            <a:prstGeom prst="roundRect">
              <a:avLst>
                <a:gd fmla="val 2704" name="adj"/>
              </a:avLst>
            </a:prstGeom>
            <a:noFill/>
            <a:ln>
              <a:noFill/>
            </a:ln>
          </p:spPr>
        </p:pic>
        <p:sp>
          <p:nvSpPr>
            <p:cNvPr id="253" name="Google Shape;253;p23"/>
            <p:cNvSpPr txBox="1"/>
            <p:nvPr/>
          </p:nvSpPr>
          <p:spPr>
            <a:xfrm>
              <a:off x="7076303" y="4619625"/>
              <a:ext cx="44034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Vergleich der LF/HF-Ratio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Statistische Verteilung der Segmente im direkten Vergleich zur Bestimmung der Aktivitätsunterschiede.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4"/>
          <p:cNvGrpSpPr/>
          <p:nvPr/>
        </p:nvGrpSpPr>
        <p:grpSpPr>
          <a:xfrm>
            <a:off x="761981" y="520687"/>
            <a:ext cx="10159746" cy="761981"/>
            <a:chOff x="571500" y="390525"/>
            <a:chExt cx="7620000" cy="571500"/>
          </a:xfrm>
        </p:grpSpPr>
        <p:sp>
          <p:nvSpPr>
            <p:cNvPr id="259" name="Google Shape;259;p24"/>
            <p:cNvSpPr txBox="1"/>
            <p:nvPr/>
          </p:nvSpPr>
          <p:spPr>
            <a:xfrm>
              <a:off x="571500" y="390525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04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Ergebnisse </a:t>
              </a: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// Performance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761981" y="1587460"/>
            <a:ext cx="5206870" cy="4064098"/>
            <a:chOff x="571500" y="1190625"/>
            <a:chExt cx="3905250" cy="3048150"/>
          </a:xfrm>
        </p:grpSpPr>
        <p:grpSp>
          <p:nvGrpSpPr>
            <p:cNvPr id="262" name="Google Shape;262;p24"/>
            <p:cNvGrpSpPr/>
            <p:nvPr/>
          </p:nvGrpSpPr>
          <p:grpSpPr>
            <a:xfrm>
              <a:off x="571500" y="1190625"/>
              <a:ext cx="3905250" cy="857400"/>
              <a:chOff x="571500" y="1190625"/>
              <a:chExt cx="3905250" cy="857400"/>
            </a:xfrm>
          </p:grpSpPr>
          <p:sp>
            <p:nvSpPr>
              <p:cNvPr id="263" name="Google Shape;263;p24"/>
              <p:cNvSpPr/>
              <p:nvPr/>
            </p:nvSpPr>
            <p:spPr>
              <a:xfrm>
                <a:off x="571500" y="1238250"/>
                <a:ext cx="333300" cy="333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4"/>
              <p:cNvSpPr txBox="1"/>
              <p:nvPr/>
            </p:nvSpPr>
            <p:spPr>
              <a:xfrm>
                <a:off x="571500" y="1267460"/>
                <a:ext cx="333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700">
                    <a:solidFill>
                      <a:srgbClr val="00F0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7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5" name="Google Shape;265;p24"/>
              <p:cNvSpPr txBox="1"/>
              <p:nvPr/>
            </p:nvSpPr>
            <p:spPr>
              <a:xfrm>
                <a:off x="1047750" y="1190625"/>
                <a:ext cx="34290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00F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Speicher-Effizienz</a:t>
                </a:r>
                <a:endParaRPr b="1" sz="17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Eine 24h-Messung bei 250 Hz erzeugt &gt;21 Mio. Punkte. Durch konsequentes Verwerfen des Rohsignals nach der R-Peak-Erkennung reduzieren wir den RAM-Bedarf um über 99%.</a:t>
                </a:r>
                <a:endParaRPr b="0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6" name="Google Shape;266;p24"/>
            <p:cNvGrpSpPr/>
            <p:nvPr/>
          </p:nvGrpSpPr>
          <p:grpSpPr>
            <a:xfrm>
              <a:off x="571500" y="2286000"/>
              <a:ext cx="3905250" cy="857400"/>
              <a:chOff x="571500" y="2286000"/>
              <a:chExt cx="3905250" cy="857400"/>
            </a:xfrm>
          </p:grpSpPr>
          <p:sp>
            <p:nvSpPr>
              <p:cNvPr id="267" name="Google Shape;267;p24"/>
              <p:cNvSpPr/>
              <p:nvPr/>
            </p:nvSpPr>
            <p:spPr>
              <a:xfrm>
                <a:off x="571500" y="2333625"/>
                <a:ext cx="333300" cy="333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4"/>
              <p:cNvSpPr txBox="1"/>
              <p:nvPr/>
            </p:nvSpPr>
            <p:spPr>
              <a:xfrm>
                <a:off x="571500" y="2362835"/>
                <a:ext cx="333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700">
                    <a:solidFill>
                      <a:srgbClr val="00F0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7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69" name="Google Shape;269;p24"/>
              <p:cNvSpPr txBox="1"/>
              <p:nvPr/>
            </p:nvSpPr>
            <p:spPr>
              <a:xfrm>
                <a:off x="1047750" y="2286000"/>
                <a:ext cx="34290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00F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FFT-Laufzeiten</a:t>
                </a:r>
                <a:endParaRPr b="1" sz="17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Anstatt ineffizienter Schleifen nutzt die Pipeline die vollständig vektorisierte MATLAB "spectrogram" Funktion. Dies drückt die Rechenzeit für 24 Stunden auf unter 0.1 Sekunden.</a:t>
                </a:r>
                <a:endParaRPr b="0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0" name="Google Shape;270;p24"/>
            <p:cNvGrpSpPr/>
            <p:nvPr/>
          </p:nvGrpSpPr>
          <p:grpSpPr>
            <a:xfrm>
              <a:off x="571500" y="3381375"/>
              <a:ext cx="3905250" cy="857400"/>
              <a:chOff x="571500" y="3381375"/>
              <a:chExt cx="3905250" cy="857400"/>
            </a:xfrm>
          </p:grpSpPr>
          <p:sp>
            <p:nvSpPr>
              <p:cNvPr id="271" name="Google Shape;271;p24"/>
              <p:cNvSpPr/>
              <p:nvPr/>
            </p:nvSpPr>
            <p:spPr>
              <a:xfrm>
                <a:off x="571500" y="3429000"/>
                <a:ext cx="333300" cy="333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4"/>
              <p:cNvSpPr txBox="1"/>
              <p:nvPr/>
            </p:nvSpPr>
            <p:spPr>
              <a:xfrm>
                <a:off x="571500" y="3458210"/>
                <a:ext cx="333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700">
                    <a:solidFill>
                      <a:srgbClr val="00F0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favorite</a:t>
                </a:r>
                <a:endParaRPr sz="27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73" name="Google Shape;273;p24"/>
              <p:cNvSpPr txBox="1"/>
              <p:nvPr/>
            </p:nvSpPr>
            <p:spPr>
              <a:xfrm>
                <a:off x="1047750" y="3381375"/>
                <a:ext cx="34290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00">
                    <a:solidFill>
                      <a:srgbClr val="00F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Medizinischer Wert</a:t>
                </a:r>
                <a:endParaRPr b="1" sz="17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Die generierten Parameter (VLF, LF, HF, RSA) und deren 3D-Muster entsprechen exakt der physiologischen Realität und erfüllen die strengen Vorgaben der medizinischen S2k-Leitlinien.</a:t>
                </a:r>
                <a:endParaRPr b="0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74" name="Google Shape;274;p24"/>
          <p:cNvGrpSpPr/>
          <p:nvPr/>
        </p:nvGrpSpPr>
        <p:grpSpPr>
          <a:xfrm>
            <a:off x="6476838" y="1650959"/>
            <a:ext cx="4953076" cy="4508287"/>
            <a:chOff x="4857750" y="1238250"/>
            <a:chExt cx="3714900" cy="3381300"/>
          </a:xfrm>
        </p:grpSpPr>
        <p:sp>
          <p:nvSpPr>
            <p:cNvPr id="275" name="Google Shape;275;p24"/>
            <p:cNvSpPr/>
            <p:nvPr/>
          </p:nvSpPr>
          <p:spPr>
            <a:xfrm>
              <a:off x="4857750" y="1238250"/>
              <a:ext cx="3714900" cy="3381300"/>
            </a:xfrm>
            <a:prstGeom prst="roundRect">
              <a:avLst>
                <a:gd fmla="val 3380" name="adj"/>
              </a:avLst>
            </a:prstGeom>
            <a:solidFill>
              <a:srgbClr val="161B22"/>
            </a:solidFill>
            <a:ln cap="flat" cmpd="sng" w="1907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4"/>
            <p:cNvSpPr txBox="1"/>
            <p:nvPr/>
          </p:nvSpPr>
          <p:spPr>
            <a:xfrm>
              <a:off x="5143500" y="1428750"/>
              <a:ext cx="3143400" cy="3000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HRV-Projekt: Performance-Analyse</a:t>
              </a:r>
              <a:endParaRPr b="1" sz="19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VORVERARBEITUNG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82.4841 </a:t>
              </a:r>
              <a:r>
                <a:rPr b="0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Sekunden</a:t>
              </a:r>
              <a:endParaRPr b="1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R-PEAK ERKENNUNG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6.5244 </a:t>
              </a:r>
              <a:r>
                <a:rPr b="0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Sekunden</a:t>
              </a:r>
              <a:endParaRPr b="1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FFT-BERECHNUNG / VISUALISIERUNG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0.0280 / 10.0627 </a:t>
              </a:r>
              <a:r>
                <a:rPr b="0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Sekunden</a:t>
              </a:r>
              <a:endParaRPr b="1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SPEICHERBEDARF (ROHSIGNAL)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663.75 </a:t>
              </a:r>
              <a:r>
                <a:rPr b="0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MB</a:t>
              </a:r>
              <a:endParaRPr b="1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RAM (BEI VORBEREITUNG)</a:t>
              </a:r>
              <a:endParaRPr b="1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8,1 </a:t>
              </a:r>
              <a:r>
                <a:rPr b="0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GB [MatLab Prozess - Windows 11]</a:t>
              </a:r>
              <a:endParaRPr b="1" sz="15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5"/>
          <p:cNvGrpSpPr/>
          <p:nvPr/>
        </p:nvGrpSpPr>
        <p:grpSpPr>
          <a:xfrm>
            <a:off x="732981" y="520687"/>
            <a:ext cx="10159746" cy="761981"/>
            <a:chOff x="571500" y="390525"/>
            <a:chExt cx="7620000" cy="571500"/>
          </a:xfrm>
        </p:grpSpPr>
        <p:sp>
          <p:nvSpPr>
            <p:cNvPr id="282" name="Google Shape;282;p25"/>
            <p:cNvSpPr txBox="1"/>
            <p:nvPr/>
          </p:nvSpPr>
          <p:spPr>
            <a:xfrm>
              <a:off x="571500" y="390525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05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Hilfsmittel und Quellen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5"/>
          <p:cNvGrpSpPr/>
          <p:nvPr/>
        </p:nvGrpSpPr>
        <p:grpSpPr>
          <a:xfrm>
            <a:off x="762000" y="1714500"/>
            <a:ext cx="4762500" cy="4286400"/>
            <a:chOff x="762000" y="1714500"/>
            <a:chExt cx="4762500" cy="4286400"/>
          </a:xfrm>
        </p:grpSpPr>
        <p:sp>
          <p:nvSpPr>
            <p:cNvPr id="285" name="Google Shape;285;p25"/>
            <p:cNvSpPr/>
            <p:nvPr/>
          </p:nvSpPr>
          <p:spPr>
            <a:xfrm>
              <a:off x="762000" y="1714500"/>
              <a:ext cx="4762500" cy="4286400"/>
            </a:xfrm>
            <a:prstGeom prst="roundRect">
              <a:avLst>
                <a:gd fmla="val 3555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 txBox="1"/>
            <p:nvPr/>
          </p:nvSpPr>
          <p:spPr>
            <a:xfrm>
              <a:off x="1047750" y="2000250"/>
              <a:ext cx="41910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brush</a:t>
              </a:r>
              <a:endParaRPr sz="3600">
                <a:solidFill>
                  <a:srgbClr val="00F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Gestaltung von Slides</a:t>
              </a:r>
              <a:endParaRPr b="1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Effiziente Unterstützung bei der visuellen Strukturierung, Layout-Entwicklung und inhaltlichen Optimierung von Präsentationsfolien.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Strukturierte Layout-Vorschläge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Optimierung von Textmengen &amp; Lesbarkeit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7" name="Google Shape;287;p25"/>
          <p:cNvGrpSpPr/>
          <p:nvPr/>
        </p:nvGrpSpPr>
        <p:grpSpPr>
          <a:xfrm>
            <a:off x="5810250" y="1714500"/>
            <a:ext cx="5619900" cy="4286400"/>
            <a:chOff x="5810250" y="1714500"/>
            <a:chExt cx="5619900" cy="4286400"/>
          </a:xfrm>
        </p:grpSpPr>
        <p:sp>
          <p:nvSpPr>
            <p:cNvPr id="288" name="Google Shape;288;p25"/>
            <p:cNvSpPr/>
            <p:nvPr/>
          </p:nvSpPr>
          <p:spPr>
            <a:xfrm>
              <a:off x="5810250" y="1714500"/>
              <a:ext cx="5619900" cy="4286400"/>
            </a:xfrm>
            <a:prstGeom prst="roundRect">
              <a:avLst>
                <a:gd fmla="val 3555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 txBox="1"/>
            <p:nvPr/>
          </p:nvSpPr>
          <p:spPr>
            <a:xfrm>
              <a:off x="6096000" y="2000250"/>
              <a:ext cx="50484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3600">
                <a:solidFill>
                  <a:srgbClr val="00F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Dokumentationsuche &amp; Support</a:t>
              </a:r>
              <a:endParaRPr b="1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Gezielte Recherche und direkte Hilfestellung bei technischen sowie inhaltlichen Fragestellungen.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Codeprobleme &amp; Funktionssuche: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Schnelles Debugging und Auffinden passender Code-Bibliotheken.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Verständnisfragen: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Einfache Erklärungen für komplexe mathematische oder technische Zusammenhänge.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Rechtschreibung &amp; Korrektur: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Stilistischer Feinschliff und grammatikalische Optimierung aller Inhalte.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F0FF"/>
                  </a:solidFill>
                  <a:latin typeface="Inter"/>
                  <a:ea typeface="Inter"/>
                  <a:cs typeface="Inter"/>
                  <a:sym typeface="Inter"/>
                </a:rPr>
                <a:t>Generelle Probleme:</a:t>
              </a:r>
              <a:r>
                <a:rPr lang="en-US" sz="11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Flexibler Sparringspartner für alltägliche Herausforderungen im Projekt.</a:t>
              </a:r>
              <a:endParaRPr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6"/>
          <p:cNvGrpSpPr/>
          <p:nvPr/>
        </p:nvGrpSpPr>
        <p:grpSpPr>
          <a:xfrm>
            <a:off x="732981" y="520687"/>
            <a:ext cx="10159746" cy="761981"/>
            <a:chOff x="571500" y="390525"/>
            <a:chExt cx="7620000" cy="571500"/>
          </a:xfrm>
        </p:grpSpPr>
        <p:sp>
          <p:nvSpPr>
            <p:cNvPr id="295" name="Google Shape;295;p26"/>
            <p:cNvSpPr txBox="1"/>
            <p:nvPr/>
          </p:nvSpPr>
          <p:spPr>
            <a:xfrm>
              <a:off x="571500" y="390525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0F0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06 //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Fragen</a:t>
              </a:r>
              <a:r>
                <a:rPr b="1" lang="en-US" sz="3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sz="3600">
                <a:solidFill>
                  <a:srgbClr val="00F0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571500" y="923925"/>
              <a:ext cx="857400" cy="28500"/>
            </a:xfrm>
            <a:prstGeom prst="rect">
              <a:avLst/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